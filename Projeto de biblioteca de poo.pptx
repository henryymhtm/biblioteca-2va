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68" r:id="rId2"/>
    <p:sldId id="269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75" r:id="rId11"/>
    <p:sldId id="276" r:id="rId12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E57"/>
    <a:srgbClr val="184259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2" autoAdjust="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1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9B60D9A-0E16-47E9-84B8-4CFA6C4002D3}" type="datetime1">
              <a:rPr lang="pt-BR" smtClean="0"/>
              <a:t>12/03/2026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C078EF9-7F2B-4B20-A25C-9E80C1697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1EC820-52A8-4D95-B9DE-C699F4826331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AAF9CF-D1E5-49FD-94F7-B246BB67E246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0597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608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835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391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5801" y="609600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85801" y="1869601"/>
            <a:ext cx="10840914" cy="3921600"/>
          </a:xfrm>
        </p:spPr>
        <p:txBody>
          <a:bodyPr rtlCol="0" anchor="t" anchorCtr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08FDCE-CD31-42F0-AABE-7D336775A628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28F7C25-BFB6-430F-87B6-7D0D2C74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6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1786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476500" y="2716272"/>
            <a:ext cx="8683625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2476500" y="5137736"/>
            <a:ext cx="8683625" cy="73284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7949DBAD-C6EA-4B12-ABB7-B01623815B43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5D99DD2A-B520-4620-9B43-64B657BA2D42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62937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52450" y="1874308"/>
            <a:ext cx="3814235" cy="1260000"/>
          </a:xfrm>
        </p:spPr>
        <p:txBody>
          <a:bodyPr rtlCol="0" anchor="ctr" anchorCtr="0">
            <a:noAutofit/>
          </a:bodyPr>
          <a:lstStyle>
            <a:lvl1pPr algn="r">
              <a:defRPr sz="3000" b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648200" y="0"/>
            <a:ext cx="7543800" cy="6856214"/>
          </a:xfrm>
        </p:spPr>
        <p:txBody>
          <a:bodyPr rtlCol="0" anchor="ctr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52450" y="3134308"/>
            <a:ext cx="3814235" cy="20166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71A04E-0320-4049-B13B-78345F141EA8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0633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ção de 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9123A5-703A-4908-A0E1-7E442400BC6C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2" name="Espaço Reservado para Texto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0" name="Espaço Reservado para Texto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1" name="Espaço Reservado para Texto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9" name="Espaço Reservado para Texto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8" name="Espaço Reservado para Texto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4" name="Espaço Reservado para Imagem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84AF74-6FC0-413A-9260-BA879B7958D3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à Direit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4" name="Espaço Reservado para Imagem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0FEDCE-D0F3-4D33-A4EF-0D6313C11D0C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Caixa de texto 14"/>
          <p:cNvSpPr txBox="1"/>
          <p:nvPr/>
        </p:nvSpPr>
        <p:spPr bwMode="white">
          <a:xfrm>
            <a:off x="1057124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1" name="Caixa de texto 10"/>
          <p:cNvSpPr txBox="1"/>
          <p:nvPr/>
        </p:nvSpPr>
        <p:spPr bwMode="white">
          <a:xfrm>
            <a:off x="10026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320801" y="609601"/>
            <a:ext cx="9550399" cy="2743199"/>
          </a:xfrm>
        </p:spPr>
        <p:txBody>
          <a:bodyPr rtlCol="0" anchor="ctr">
            <a:normAutofit/>
          </a:bodyPr>
          <a:lstStyle>
            <a:lvl1pPr algn="ctr">
              <a:defRPr sz="3000" b="0" i="1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ESTILO DO TÍTULO PRINCIPAL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1426408" y="3352800"/>
            <a:ext cx="9339184" cy="381000"/>
          </a:xfrm>
        </p:spPr>
        <p:txBody>
          <a:bodyPr rtlCol="0"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AD7857E-8E0E-4AC1-ABDC-E42462C788DE}"/>
              </a:ext>
            </a:extLst>
          </p:cNvPr>
          <p:cNvSpPr/>
          <p:nvPr userDrawn="1"/>
        </p:nvSpPr>
        <p:spPr>
          <a:xfrm>
            <a:off x="1750844" y="3962401"/>
            <a:ext cx="8690313" cy="1908173"/>
          </a:xfrm>
          <a:prstGeom prst="roundRect">
            <a:avLst>
              <a:gd name="adj" fmla="val 6552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857375" y="4021138"/>
            <a:ext cx="8486775" cy="176053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FEEC3E-18BC-49E6-9963-2CEA1DD0CF3F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534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5801" y="609599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85799" y="1869599"/>
            <a:ext cx="5202071" cy="91622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85800" y="2870201"/>
            <a:ext cx="5202071" cy="2916000"/>
          </a:xfrm>
          <a:prstGeom prst="roundRect">
            <a:avLst>
              <a:gd name="adj" fmla="val 2496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298270" y="1869599"/>
            <a:ext cx="5228444" cy="91622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98270" y="2870201"/>
            <a:ext cx="5202071" cy="2916000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772332-ABEC-469F-8D5B-086A55EE377C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031B0A9-3E16-4C5B-A6CE-045BCB91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3976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5801" y="609600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6" y="1790228"/>
            <a:ext cx="10863358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85802" y="1869600"/>
            <a:ext cx="504000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rtlCol="0" anchor="t" anchorCtr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488644" y="1869601"/>
            <a:ext cx="5040000" cy="3921600"/>
          </a:xfrm>
          <a:prstGeom prst="roundRect">
            <a:avLst>
              <a:gd name="adj" fmla="val 2211"/>
            </a:avLst>
          </a:prstGeom>
          <a:ln w="28575">
            <a:noFill/>
          </a:ln>
          <a:effectLst/>
        </p:spPr>
        <p:txBody>
          <a:bodyPr rtlCol="0" anchor="t" anchorCtr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33C436-5DBF-419D-8E8E-3F016697A228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8539E0A-8009-4A6E-A7A1-5AEFA5220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9691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3" cy="3124199"/>
          </a:xfrm>
        </p:spPr>
        <p:txBody>
          <a:bodyPr rtlCol="0" anchor="ctr">
            <a:normAutofit/>
          </a:bodyPr>
          <a:lstStyle>
            <a:lvl1pPr algn="l">
              <a:defRPr sz="3000" b="0" cap="none"/>
            </a:lvl1pPr>
          </a:lstStyle>
          <a:p>
            <a:pPr rtl="0"/>
            <a:r>
              <a:rPr lang="pt-BR" noProof="0"/>
              <a:t>CLIQUE PARA EDITAR O ESTILO DO TÍTULO PRINCIPAL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85800" y="3733800"/>
            <a:ext cx="10840914" cy="20574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C36D88-DD9D-4FF5-A580-3DC65E9F9544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33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5801" y="609600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05FA28-C587-4217-AC12-9DDEE8470A01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1064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E3968C-C142-40FD-9218-DA57F87FF9C2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537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 bwMode="white">
          <a:xfrm>
            <a:off x="685801" y="609600"/>
            <a:ext cx="1084091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 bwMode="white">
          <a:xfrm>
            <a:off x="685801" y="2142067"/>
            <a:ext cx="10840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0790B2F6-20DF-4072-9E25-0A836B68EA75}" type="datetime1">
              <a:rPr lang="pt-BR" noProof="0" smtClean="0"/>
              <a:t>12/03/2026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266059" y="5870575"/>
            <a:ext cx="1260655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5D99DD2A-B520-4620-9B43-64B657BA2D42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09069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8" r:id="rId3"/>
    <p:sldLayoutId id="2147483679" r:id="rId4"/>
    <p:sldLayoutId id="2147483669" r:id="rId5"/>
    <p:sldLayoutId id="2147483680" r:id="rId6"/>
    <p:sldLayoutId id="2147483672" r:id="rId7"/>
    <p:sldLayoutId id="2147483665" r:id="rId8"/>
    <p:sldLayoutId id="2147483664" r:id="rId9"/>
    <p:sldLayoutId id="2147483671" r:id="rId10"/>
    <p:sldLayoutId id="2147483666" r:id="rId11"/>
    <p:sldLayoutId id="2147483667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5B398-1E7F-44AD-8356-8345134C9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468" y="2716272"/>
            <a:ext cx="10643658" cy="2421464"/>
          </a:xfrm>
        </p:spPr>
        <p:txBody>
          <a:bodyPr rtlCol="0"/>
          <a:lstStyle/>
          <a:p>
            <a:pPr rtl="0"/>
            <a:r>
              <a:rPr lang="pt-BR" spc="-30" dirty="0"/>
              <a:t>Projeto de biblioteca de </a:t>
            </a:r>
            <a:r>
              <a:rPr lang="pt-BR" spc="-30" dirty="0" err="1"/>
              <a:t>poo</a:t>
            </a:r>
            <a:r>
              <a:rPr lang="pt-BR" spc="-30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2A3D91-AB3F-4EDF-B87E-FDDF6C5DC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468" y="5137735"/>
            <a:ext cx="10643657" cy="1202889"/>
          </a:xfrm>
        </p:spPr>
        <p:txBody>
          <a:bodyPr rtlCol="0"/>
          <a:lstStyle/>
          <a:p>
            <a:pPr rtl="0"/>
            <a:r>
              <a:rPr lang="pt-BR" dirty="0"/>
              <a:t>Projeto de programação orientada a objetos do semestre 2025.2.</a:t>
            </a:r>
          </a:p>
          <a:p>
            <a:pPr rtl="0"/>
            <a:r>
              <a:rPr lang="pt-BR" dirty="0"/>
              <a:t>Professora: </a:t>
            </a:r>
            <a:r>
              <a:rPr lang="pt-BR" dirty="0" err="1"/>
              <a:t>thaís</a:t>
            </a:r>
            <a:r>
              <a:rPr lang="pt-BR" dirty="0"/>
              <a:t> ALVES </a:t>
            </a:r>
            <a:r>
              <a:rPr lang="pt-BR" dirty="0" err="1"/>
              <a:t>burity</a:t>
            </a:r>
            <a:r>
              <a:rPr lang="pt-BR" dirty="0"/>
              <a:t>  ROCHA.</a:t>
            </a:r>
          </a:p>
          <a:p>
            <a:pPr rtl="0"/>
            <a:r>
              <a:rPr lang="pt-BR" dirty="0"/>
              <a:t>ALUNOS: Matheus henry e </a:t>
            </a:r>
            <a:r>
              <a:rPr lang="pt-BR" dirty="0" err="1"/>
              <a:t>mário</a:t>
            </a:r>
            <a:r>
              <a:rPr lang="pt-BR" dirty="0"/>
              <a:t> </a:t>
            </a:r>
            <a:r>
              <a:rPr lang="pt-BR" dirty="0" err="1"/>
              <a:t>ramon</a:t>
            </a:r>
            <a:r>
              <a:rPr lang="pt-BR" dirty="0"/>
              <a:t>.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BDC848C-6650-4318-B814-8CF7C5BFA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100" y="517376"/>
            <a:ext cx="2740025" cy="274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74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página enrolada">
            <a:extLst>
              <a:ext uri="{FF2B5EF4-FFF2-40B4-BE49-F238E27FC236}">
                <a16:creationId xmlns:a16="http://schemas.microsoft.com/office/drawing/2014/main" id="{F54CE4C8-2431-43FB-87C3-391A3BFF8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527" y="549804"/>
            <a:ext cx="1157288" cy="11572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FF32E04-E3CE-4175-B0D3-33D69BCB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introdução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BA0452F-E4D7-4ED7-A292-A7A5A20AC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r>
              <a:rPr lang="pt-BR" dirty="0"/>
              <a:t>Sistema de Gestão de Biblioteca Acadêmica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E4523323-1EB5-4AAF-95C6-A31523B3F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34949" r="6339"/>
          <a:stretch/>
        </p:blipFill>
        <p:spPr bwMode="blackGray">
          <a:xfrm>
            <a:off x="4810125" y="0"/>
            <a:ext cx="7381875" cy="6858000"/>
          </a:xfrm>
        </p:spPr>
      </p:pic>
    </p:spTree>
    <p:extLst>
      <p:ext uri="{BB962C8B-B14F-4D97-AF65-F5344CB8AC3E}">
        <p14:creationId xmlns:p14="http://schemas.microsoft.com/office/powerpoint/2010/main" val="234296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B657F-649D-417F-9730-80487EBD5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9074" y="599661"/>
            <a:ext cx="3814235" cy="1260000"/>
          </a:xfrm>
        </p:spPr>
        <p:txBody>
          <a:bodyPr/>
          <a:lstStyle/>
          <a:p>
            <a:r>
              <a:rPr lang="pt-BR" dirty="0"/>
              <a:t>Arquitetura e Organização (Visão Geral)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54D2BD3B-D9F3-48CE-A848-F993709AB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55557"/>
          <a:stretch/>
        </p:blipFill>
        <p:spPr>
          <a:xfrm>
            <a:off x="2396782" y="1483326"/>
            <a:ext cx="3912290" cy="3374896"/>
          </a:xfr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9EED9E-A352-449E-9132-713CCA27F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39074" y="1997781"/>
            <a:ext cx="3814235" cy="2016600"/>
          </a:xfrm>
        </p:spPr>
        <p:txBody>
          <a:bodyPr/>
          <a:lstStyle/>
          <a:p>
            <a:r>
              <a:rPr lang="pt-BR" dirty="0"/>
              <a:t>Organização em Camadas (</a:t>
            </a:r>
            <a:r>
              <a:rPr lang="pt-BR" dirty="0" err="1"/>
              <a:t>Packages</a:t>
            </a:r>
            <a:r>
              <a:rPr lang="pt-BR" dirty="0"/>
              <a:t>)</a:t>
            </a:r>
          </a:p>
        </p:txBody>
      </p:sp>
      <p:pic>
        <p:nvPicPr>
          <p:cNvPr id="8" name="Gráfico 7" descr="Livro fechado com preenchimento sólido">
            <a:extLst>
              <a:ext uri="{FF2B5EF4-FFF2-40B4-BE49-F238E27FC236}">
                <a16:creationId xmlns:a16="http://schemas.microsoft.com/office/drawing/2014/main" id="{78355272-1439-4981-9401-597E663FD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2648" y="3305389"/>
            <a:ext cx="1417983" cy="14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93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4EFB5-D3A1-4DB6-AC14-32FC0BC2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62" y="777069"/>
            <a:ext cx="3638964" cy="1260000"/>
          </a:xfrm>
        </p:spPr>
        <p:txBody>
          <a:bodyPr/>
          <a:lstStyle/>
          <a:p>
            <a:r>
              <a:rPr lang="pt-BR" dirty="0"/>
              <a:t>Diagrama de classes</a:t>
            </a:r>
          </a:p>
        </p:txBody>
      </p:sp>
      <p:pic>
        <p:nvPicPr>
          <p:cNvPr id="6" name="Espaço Reservado para Imagem 5">
            <a:extLst>
              <a:ext uri="{FF2B5EF4-FFF2-40B4-BE49-F238E27FC236}">
                <a16:creationId xmlns:a16="http://schemas.microsoft.com/office/drawing/2014/main" id="{F290086C-9E67-4945-B403-AB6CF1E4303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389" r="297"/>
          <a:stretch/>
        </p:blipFill>
        <p:spPr>
          <a:xfrm>
            <a:off x="4262321" y="442068"/>
            <a:ext cx="7711018" cy="5810250"/>
          </a:xfr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4AC76E-4726-429B-9649-6CB51ECE9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661" y="2265492"/>
            <a:ext cx="3638965" cy="3476618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4243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B6895-77E7-4510-9649-36E5339C0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Padrão </a:t>
            </a:r>
            <a:r>
              <a:rPr lang="pt-BR" dirty="0" err="1"/>
              <a:t>Facade</a:t>
            </a:r>
            <a:r>
              <a:rPr lang="pt-BR" dirty="0"/>
              <a:t> (Fachada)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9933294-AF50-418F-BB7A-5702A8590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4298" y="1870075"/>
            <a:ext cx="7544041" cy="3921125"/>
          </a:xfrm>
        </p:spPr>
      </p:pic>
    </p:spTree>
    <p:extLst>
      <p:ext uri="{BB962C8B-B14F-4D97-AF65-F5344CB8AC3E}">
        <p14:creationId xmlns:p14="http://schemas.microsoft.com/office/powerpoint/2010/main" val="2450082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8610F-6467-4A2C-8E19-F351680E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Lógica de Devolução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2E9912D-730D-4943-ABFA-26A164EADD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4051" y="1742405"/>
            <a:ext cx="7793036" cy="4767016"/>
          </a:xfrm>
        </p:spPr>
      </p:pic>
    </p:spTree>
    <p:extLst>
      <p:ext uri="{BB962C8B-B14F-4D97-AF65-F5344CB8AC3E}">
        <p14:creationId xmlns:p14="http://schemas.microsoft.com/office/powerpoint/2010/main" val="712414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2FD09-5E4A-4BA8-9A25-41A2ED0E6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57F3280-C80F-4583-A68E-09166210C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175" b="46313"/>
          <a:stretch/>
        </p:blipFill>
        <p:spPr>
          <a:xfrm>
            <a:off x="685801" y="2816797"/>
            <a:ext cx="5968853" cy="1628775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FBD79B6-248E-4413-A032-005971E81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471" y="2569004"/>
            <a:ext cx="2962629" cy="226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076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E7AD2-4940-4CEB-8B9B-9B4210A2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Polimorfismo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64FA065-266F-4823-9B82-792630C24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976" y="1765471"/>
            <a:ext cx="4040745" cy="3023076"/>
          </a:xfr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12D50FEF-2494-4CB7-9610-9123AD05BAE2}"/>
              </a:ext>
            </a:extLst>
          </p:cNvPr>
          <p:cNvGrpSpPr/>
          <p:nvPr/>
        </p:nvGrpSpPr>
        <p:grpSpPr>
          <a:xfrm>
            <a:off x="7284194" y="1036056"/>
            <a:ext cx="4677428" cy="2240953"/>
            <a:chOff x="6160319" y="2017585"/>
            <a:chExt cx="4677428" cy="2240953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C45DBB31-28E3-4BE8-B7AF-71A96F18B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0319" y="2429483"/>
              <a:ext cx="4677428" cy="1829055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4060163-FAE0-455C-93E2-53BDDE722F9C}"/>
                </a:ext>
              </a:extLst>
            </p:cNvPr>
            <p:cNvSpPr txBox="1"/>
            <p:nvPr/>
          </p:nvSpPr>
          <p:spPr>
            <a:xfrm>
              <a:off x="6181725" y="2017585"/>
              <a:ext cx="20778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Subclasse Professor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A2E63AA-18B2-4A39-B15E-881F16B74260}"/>
              </a:ext>
            </a:extLst>
          </p:cNvPr>
          <p:cNvGrpSpPr/>
          <p:nvPr/>
        </p:nvGrpSpPr>
        <p:grpSpPr>
          <a:xfrm>
            <a:off x="6106258" y="3741221"/>
            <a:ext cx="5041925" cy="2004523"/>
            <a:chOff x="6053772" y="3741221"/>
            <a:chExt cx="5041925" cy="2004523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1395B7B4-A7AB-4FE4-B68F-1BC2AA1CE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3427" y="4231058"/>
              <a:ext cx="4982270" cy="1514686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2F72799-C183-4FE9-B3A8-F437EB4A8A81}"/>
                </a:ext>
              </a:extLst>
            </p:cNvPr>
            <p:cNvSpPr txBox="1"/>
            <p:nvPr/>
          </p:nvSpPr>
          <p:spPr>
            <a:xfrm>
              <a:off x="6053772" y="3741221"/>
              <a:ext cx="17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Subclasse Aluno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1048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D7B43-A676-417E-94E7-FB7F66FA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exceções</a:t>
            </a:r>
          </a:p>
        </p:txBody>
      </p:sp>
      <p:pic>
        <p:nvPicPr>
          <p:cNvPr id="6" name="Espaço Reservado para Imagem 5">
            <a:extLst>
              <a:ext uri="{FF2B5EF4-FFF2-40B4-BE49-F238E27FC236}">
                <a16:creationId xmlns:a16="http://schemas.microsoft.com/office/drawing/2014/main" id="{21C88853-D7B3-4B40-BCFD-8E5EE4D33EF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3509" r="3509"/>
          <a:stretch/>
        </p:blipFill>
        <p:spPr/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3D1295-34D9-4A92-814E-8ECF89C4A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Exemplos: </a:t>
            </a:r>
            <a:r>
              <a:rPr lang="pt-BR" dirty="0" err="1"/>
              <a:t>MultaPendenteException</a:t>
            </a:r>
            <a:r>
              <a:rPr lang="pt-BR" dirty="0"/>
              <a:t> e </a:t>
            </a:r>
            <a:r>
              <a:rPr lang="pt-BR" dirty="0" err="1"/>
              <a:t>DataNascimentoInvalidaException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7442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78200-0985-4DED-A84B-D6ADED92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Demonstração</a:t>
            </a:r>
          </a:p>
        </p:txBody>
      </p:sp>
      <p:pic>
        <p:nvPicPr>
          <p:cNvPr id="7" name="Imagem 6" descr="ícone de lupa">
            <a:extLst>
              <a:ext uri="{FF2B5EF4-FFF2-40B4-BE49-F238E27FC236}">
                <a16:creationId xmlns:a16="http://schemas.microsoft.com/office/drawing/2014/main" id="{AAE36621-6FAB-4009-9D5C-CE767DF10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597" y="894451"/>
            <a:ext cx="685800" cy="6858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E8A47E-9D4A-4D70-B23A-B0AC37572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pt-BR" dirty="0"/>
              <a:t>Rodar o código!</a:t>
            </a:r>
          </a:p>
        </p:txBody>
      </p:sp>
    </p:spTree>
    <p:extLst>
      <p:ext uri="{BB962C8B-B14F-4D97-AF65-F5344CB8AC3E}">
        <p14:creationId xmlns:p14="http://schemas.microsoft.com/office/powerpoint/2010/main" val="277620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BA199-95B7-41B3-9A72-44BD819B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Conclusão e Contribuições</a:t>
            </a:r>
          </a:p>
        </p:txBody>
      </p:sp>
      <p:pic>
        <p:nvPicPr>
          <p:cNvPr id="10" name="Imagem 9" descr="ícone do martelo ">
            <a:extLst>
              <a:ext uri="{FF2B5EF4-FFF2-40B4-BE49-F238E27FC236}">
                <a16:creationId xmlns:a16="http://schemas.microsoft.com/office/drawing/2014/main" id="{4CC9C727-CD5E-461F-9DE1-B579A54D1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736" y="600024"/>
            <a:ext cx="1171575" cy="117157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4B0985-002E-41EF-80D7-888D432617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6FF52-309D-45FC-A407-74955F1EF1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01437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60957909_TF22736411_Win32" id="{0E4E5DAE-816E-420E-BA3C-173DF50E95B7}" vid="{EF28C44E-E126-4DE1-B8E0-0CFF04A43E9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famoso na apresentação de história</Template>
  <TotalTime>321</TotalTime>
  <Words>87</Words>
  <Application>Microsoft Office PowerPoint</Application>
  <PresentationFormat>Widescreen</PresentationFormat>
  <Paragraphs>24</Paragraphs>
  <Slides>11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Corbel</vt:lpstr>
      <vt:lpstr>Celestial</vt:lpstr>
      <vt:lpstr>Projeto de biblioteca de poo </vt:lpstr>
      <vt:lpstr>introdução</vt:lpstr>
      <vt:lpstr>Arquitetura e Organização (Visão Geral)</vt:lpstr>
      <vt:lpstr>Diagrama de classes</vt:lpstr>
      <vt:lpstr>Padrão Facade (Fachada)</vt:lpstr>
      <vt:lpstr>Lógica de Devolução</vt:lpstr>
      <vt:lpstr>Interfaces</vt:lpstr>
      <vt:lpstr>Polimorfismo</vt:lpstr>
      <vt:lpstr>Tratamento de exceções</vt:lpstr>
      <vt:lpstr>Demonstração</vt:lpstr>
      <vt:lpstr>Conclusão e Contribuições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USAR ESTE MODELO</dc:title>
  <dc:creator>Mário Barros</dc:creator>
  <cp:lastModifiedBy>Mário Barros</cp:lastModifiedBy>
  <cp:revision>12</cp:revision>
  <dcterms:created xsi:type="dcterms:W3CDTF">2026-03-11T17:55:02Z</dcterms:created>
  <dcterms:modified xsi:type="dcterms:W3CDTF">2026-03-12T19:12:11Z</dcterms:modified>
</cp:coreProperties>
</file>